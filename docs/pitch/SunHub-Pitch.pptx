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645920" cy="164592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1783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ACC15"/>
                </a:solidFill>
                <a:latin typeface="Calibri"/>
              </a:rPr>
              <a:t>SUNHUB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Una sola plataforma
para toda tu operación solar.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Centraliza datos, anticipa fallas y cumple contratos —
de Huawei, Growatt, Hoymiles, Deye y más,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760720"/>
            <a:ext cx="4754880" cy="50292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Techos Rentables · Equipo Los Incapaces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SunHub · Techos Rentables · Hackathon Tinku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FCF0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6B2C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Datos fragmentados. Operación manual. Riesgo contractual.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200+ plantas · 6+ fabricantes · cero visibilidad unificada.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73152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A5E9"/>
                </a:solidFill>
                <a:latin typeface="Calibri"/>
              </a:rPr>
              <a:t>130+ h/mes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en trabajo manual recurrente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743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2743200"/>
            <a:ext cx="73152" cy="192024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0632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ACC15"/>
                </a:solidFill>
                <a:latin typeface="Calibri"/>
              </a:rPr>
              <a:t>~40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404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para generar un reporte por cliente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743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73152" cy="19202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DC2626"/>
                </a:solidFill>
                <a:latin typeface="Calibri"/>
              </a:rPr>
              <a:t>&gt;5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para detectar una falla — llega tarde al SLA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74320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2743200"/>
            <a:ext cx="73152" cy="1920240"/>
          </a:xfrm>
          <a:prstGeom prst="rect">
            <a:avLst/>
          </a:prstGeom>
          <a:solidFill>
            <a:srgbClr val="0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06324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6B2C"/>
                </a:solidFill>
                <a:latin typeface="Calibri"/>
              </a:rPr>
              <a:t>Riesgo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8404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de penalización por incumplimiento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Consecuencia: mantenimiento reactivo, operación no escalable y margen erosionado.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SunHub · Techos Rentables · Hackathon Tinku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FCF0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6B2C"/>
                </a:solidFill>
                <a:latin typeface="Calibri"/>
              </a:rPr>
              <a:t>LA 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Un ecosistema que unifica, predice y actúa.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Cinco capas. Una sola experiencia.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API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Huawei, Growatt, Deye, Hoymiles
unificados en un modelo canónico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1760" y="3977640"/>
            <a:ext cx="12459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16352" y="256032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99232" y="2743200"/>
            <a:ext cx="640080" cy="64008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16352" y="2834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566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Predicción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416052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IA + reglas de negocio
anticipan fallas y degradación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39472" y="3977640"/>
            <a:ext cx="12459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84064" y="256032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6944" y="2743200"/>
            <a:ext cx="640080" cy="64008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2834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3566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Mantenimiento ágil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416052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Aceptar, ticketizar y remediar
sin salir del sistema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07184" y="3977640"/>
            <a:ext cx="12459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1776" y="256032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34656" y="27432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6" y="2834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3566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Clima inteligente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656" y="416052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Pronóstico + score para elegir
el día ideal de mantenimiento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74896" y="3977640"/>
            <a:ext cx="124592" cy="182880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19488" y="2560320"/>
            <a:ext cx="21031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02368" y="2743200"/>
            <a:ext cx="640080" cy="640080"/>
          </a:xfrm>
          <a:prstGeom prst="ellipse">
            <a:avLst/>
          </a:prstGeom>
          <a:solidFill>
            <a:srgbClr val="0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2834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35661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App unificada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2368" y="4160520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Calibri"/>
              </a:rPr>
              <a:t>Operador, cliente y reportes
automáticos en una sola vista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Loop cerrado: predecir → actuar → medir → aprender.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SunHub · Techos Rentables · Hackathon Tinku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FCF0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6B2C"/>
                </a:solidFill>
                <a:latin typeface="Calibri"/>
              </a:rPr>
              <a:t>TRANSFORMACIÓN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Del caos operativo a la operación predictiva.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Cada dimensión de la operación, transformada.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6459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DIMENSIÓN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33172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33172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ANTES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33172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3317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6B2C"/>
                </a:solidFill>
                <a:latin typeface="Calibri"/>
              </a:rPr>
              <a:t>CON SUNHUB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90088"/>
            <a:ext cx="73152" cy="42062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2880360"/>
            <a:ext cx="4480560" cy="6400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88036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6+ portales separados por marca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12280" y="3118104"/>
            <a:ext cx="411480" cy="16459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2880360"/>
            <a:ext cx="4297680" cy="640080"/>
          </a:xfrm>
          <a:prstGeom prst="roundRect">
            <a:avLst>
              <a:gd name="adj" fmla="val 15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88036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1 API canónica · multi-proveedor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21608"/>
            <a:ext cx="73152" cy="42062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118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Reportes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3611880"/>
            <a:ext cx="4480560" cy="6400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361188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~40 min por cliente · manual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812280" y="3849624"/>
            <a:ext cx="411480" cy="16459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0" y="3611880"/>
            <a:ext cx="4297680" cy="640080"/>
          </a:xfrm>
          <a:prstGeom prst="roundRect">
            <a:avLst>
              <a:gd name="adj" fmla="val 15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6118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Segundos · automáticos y agendados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53128"/>
            <a:ext cx="73152" cy="42062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34340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Detección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343400"/>
            <a:ext cx="4480560" cy="6400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40" y="43434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Reactiva, después del incidente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812280" y="4581144"/>
            <a:ext cx="411480" cy="16459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315200" y="4343400"/>
            <a:ext cx="4297680" cy="640080"/>
          </a:xfrm>
          <a:prstGeom prst="roundRect">
            <a:avLst>
              <a:gd name="adj" fmla="val 15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34340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Alarmas en &lt;5 min · IA prioriza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84648"/>
            <a:ext cx="73152" cy="42062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7492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Mantenimiento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5074920"/>
            <a:ext cx="4480560" cy="6400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507492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Visita presencial · decisión a ciegas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812280" y="5312664"/>
            <a:ext cx="411480" cy="16459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0" y="5074920"/>
            <a:ext cx="4297680" cy="640080"/>
          </a:xfrm>
          <a:prstGeom prst="roundRect">
            <a:avLst>
              <a:gd name="adj" fmla="val 15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507492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Remoto vía API · día óptimo con clima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916168"/>
            <a:ext cx="73152" cy="420624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064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Decisión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6000" y="5806440"/>
            <a:ext cx="4480560" cy="64008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58064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Intuición + Excel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812280" y="6044184"/>
            <a:ext cx="411480" cy="164592"/>
          </a:xfrm>
          <a:prstGeom prst="rightArrow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15200" y="5806440"/>
            <a:ext cx="4297680" cy="640080"/>
          </a:xfrm>
          <a:prstGeom prst="roundRect">
            <a:avLst>
              <a:gd name="adj" fmla="val 15000"/>
            </a:avLst>
          </a:prstGeom>
          <a:solidFill>
            <a:srgbClr val="F4FCF0"/>
          </a:solidFill>
          <a:ln w="63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580644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6B2C"/>
                </a:solidFill>
                <a:latin typeface="Calibri"/>
              </a:rPr>
              <a:t>Copilot AI con datos en vivo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Misma flota · mismos contratos · otra operación.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SunHub · Techos Rentables · Hackathon Tinku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4FCF0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6B2C"/>
                </a:solidFill>
                <a:latin typeface="Calibri"/>
              </a:rPr>
              <a:t>IMPACTO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Calibri"/>
              </a:rPr>
              <a:t>Más tiempo, menos riesgo, más cumplimiento.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Calibri"/>
              </a:rPr>
              <a:t>Los números hablan solos.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657600" cy="1371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16A34A"/>
                </a:solidFill>
                <a:latin typeface="Calibri"/>
              </a:rPr>
              <a:t>De 40 min
a segundos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Reporte por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688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468880"/>
            <a:ext cx="3657600" cy="1371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9260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0EA5E9"/>
                </a:solidFill>
                <a:latin typeface="Calibri"/>
              </a:rPr>
              <a:t>&lt;5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023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Detección de fallas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46888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3657600" cy="13716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9260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>
                <a:solidFill>
                  <a:srgbClr val="FACC15"/>
                </a:solidFill>
                <a:latin typeface="Calibri"/>
              </a:rPr>
              <a:t>130+ h/mes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0233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Liberadas del trabajo manual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Centralización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0352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1 plataforma · 6 marcas · 200+ plantas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84632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8463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Operación escalable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0352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Sin sumar cabezas cuando crece la flota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846320"/>
            <a:ext cx="109728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84632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Cumplimiento contractual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303520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SLA, PR, uptime y CO₂ bajo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4389120"/>
            <a:ext cx="2560320" cy="2560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937760"/>
            <a:ext cx="548640" cy="548640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00584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Calibri"/>
              </a:rPr>
              <a:t>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No unificamos solo datos.
Unificamos decisiones, operación
y cumplimiento.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ACC15"/>
                </a:solidFill>
                <a:latin typeface="Calibri"/>
              </a:rPr>
              <a:t>SunHub — el sistema operativo de tu flota solar.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Techos Rentables · Hackathon Tinku 2026 · Equipo Los Incapaces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